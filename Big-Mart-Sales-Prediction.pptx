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ncizar Serif"/>
      <p:regular r:id="rId201314"/>
    </p:embeddedFont>
    <p:embeddedFont>
      <p:font typeface="Ancizar Serif SemiBold"/>
      <p:regular r:id="rId201315"/>
    </p:embeddedFont>
    <p:embeddedFont>
      <p:font typeface="Ancizar Serif Bold"/>
      <p:regular r:id="rId201316"/>
    </p:embeddedFont>
    <p:embeddedFont>
      <p:font typeface="Familjen Grotesk"/>
      <p:regular r:id="rId201317"/>
    </p:embeddedFont>
    <p:embeddedFont>
      <p:font typeface="Familjen Grotesk SemiBold"/>
      <p:regular r:id="rId201318"/>
    </p:embeddedFont>
    <p:embeddedFont>
      <p:font typeface="Familjen Grotesk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DBC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F">
              <a:alpha val="62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DBC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INTERNSHIP PROJECT · AI / ML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163663"/>
            <a:ext cx="10972526" cy="1479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5600" spc="-84" kern="0" dirty="0">
                <a:solidFill>
                  <a:srgbClr val="FFFFF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Big Mart</a:t>
            </a:r>
            <a:endParaRPr lang="en-US" sz="56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5600" spc="-84" kern="0" dirty="0">
                <a:solidFill>
                  <a:srgbClr val="FFFFF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Sales Prediction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09585" y="3871416"/>
            <a:ext cx="11582110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6233F"/>
                </a:solidFill>
                <a:highlight>
                  <a:srgbClr val="F2C437"/>
                </a:highlight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Using XGBoost Regression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9585" y="4473377"/>
            <a:ext cx="1097252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Prathna Parmar · AI ML Training · Thakur Shyamnarayan Degree College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Internship Project: Naviotech Solution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131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Big Mart sales can be estimated from product and outlet signals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144268"/>
            <a:ext cx="571486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849118"/>
            <a:ext cx="345431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Product signals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5288459"/>
            <a:ext cx="345431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Predict product sales at Big Mart outlets.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4144268"/>
            <a:ext cx="571486" cy="571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8691" y="4849118"/>
            <a:ext cx="345431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Outlet signals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368691" y="5288459"/>
            <a:ext cx="3454314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Use product-related and outlet-related information as model inputs.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4144268"/>
            <a:ext cx="571486" cy="571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27797" y="4849118"/>
            <a:ext cx="345431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Sales target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127797" y="5288459"/>
            <a:ext cx="3454314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Predict the target variable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Item_Outlet_Sales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with machine learning regression.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PROJECT ARC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131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The project turns raw sales data into a measurable prediction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3393678"/>
            <a:ext cx="513147" cy="400050"/>
          </a:xfrm>
          <a:prstGeom prst="roundRect">
            <a:avLst>
              <a:gd name="adj" fmla="val 2857"/>
            </a:avLst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6582" y="3479403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3930848"/>
            <a:ext cx="240024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Prepare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9585" y="4415929"/>
            <a:ext cx="240024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Prepare and analyze the sales dataset.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67013" y="3393678"/>
            <a:ext cx="513147" cy="400050"/>
          </a:xfrm>
          <a:prstGeom prst="roundRect">
            <a:avLst>
              <a:gd name="adj" fmla="val 2857"/>
            </a:avLst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4010" y="3479403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67013" y="3930848"/>
            <a:ext cx="240024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Clean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467013" y="4415929"/>
            <a:ext cx="240024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Handle missing values and categorical data.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24442" y="3393678"/>
            <a:ext cx="513147" cy="400050"/>
          </a:xfrm>
          <a:prstGeom prst="roundRect">
            <a:avLst>
              <a:gd name="adj" fmla="val 2857"/>
            </a:avLst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1439" y="3479403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24442" y="3930848"/>
            <a:ext cx="240024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Model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24442" y="4415929"/>
            <a:ext cx="240024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Build an XGBoost regression model.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81870" y="3393678"/>
            <a:ext cx="513147" cy="400050"/>
          </a:xfrm>
          <a:prstGeom prst="roundRect">
            <a:avLst>
              <a:gd name="adj" fmla="val 2857"/>
            </a:avLst>
          </a:prstGeom>
          <a:solidFill>
            <a:srgbClr val="16233F"/>
          </a:solidFill>
          <a:ln w="12700">
            <a:solidFill>
              <a:srgbClr val="D5CF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867" y="3479403"/>
            <a:ext cx="868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81870" y="3930848"/>
            <a:ext cx="240024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Evaluate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81870" y="4415929"/>
            <a:ext cx="240024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Measure performance with the R² score.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131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The dataset combines </a:t>
            </a:r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000000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8,523 records</a:t>
            </a:r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 with 11 input features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502323"/>
            <a:ext cx="2514537" cy="845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6400" spc="-12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8,523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09585" y="4576167"/>
            <a:ext cx="274313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Training records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581310" y="3502323"/>
            <a:ext cx="2285943" cy="845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6400" spc="-12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11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581310" y="4576167"/>
            <a:ext cx="25145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Input features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24442" y="3502323"/>
            <a:ext cx="228594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Target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24442" y="3987403"/>
            <a:ext cx="251453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Item_Outlet_Sales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24442" y="4440734"/>
            <a:ext cx="228594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647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value the model learns to predict.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67573" y="3502323"/>
            <a:ext cx="251453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Feature types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067573" y="3987403"/>
            <a:ext cx="2514537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Numerical and categorical product and outlet information.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46366" y="3502323"/>
            <a:ext cx="12700" cy="1445022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089498" y="3502323"/>
            <a:ext cx="12700" cy="1445022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32629" y="3502323"/>
            <a:ext cx="12700" cy="1445022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31501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6705432" cy="1728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spc="-50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Preprocessing makes incomplete and categorical data model-ready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2911177"/>
            <a:ext cx="726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78659" y="2841327"/>
            <a:ext cx="643635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Check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the dataset for missing values.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3688358"/>
            <a:ext cx="726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8659" y="3618508"/>
            <a:ext cx="643635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Impute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Item_Weight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with the mean.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4465538"/>
            <a:ext cx="726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8659" y="4395688"/>
            <a:ext cx="643635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Fill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Outlet_Size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based on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Outlet_Type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585" y="5242719"/>
            <a:ext cx="726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8659" y="5172869"/>
            <a:ext cx="643635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Encode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categorical features with label encoding.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585" y="6019899"/>
            <a:ext cx="726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8659" y="5950049"/>
            <a:ext cx="643635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Prepare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the cleaned data for model training.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602" y="0"/>
            <a:ext cx="4267093" cy="687963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09585" y="3383558"/>
            <a:ext cx="6705432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09585" y="4160738"/>
            <a:ext cx="6705432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09585" y="4937919"/>
            <a:ext cx="6705432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09585" y="5715099"/>
            <a:ext cx="6705432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ANALYSIS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131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The analysis separates learning data from unseen test data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429768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Before modeling, explore product and outlet features. Then define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X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as the features and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Y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as the target.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3171627"/>
            <a:ext cx="5486263" cy="2262584"/>
          </a:xfrm>
          <a:custGeom>
            <a:avLst/>
            <a:gdLst/>
            <a:ahLst/>
            <a:cxnLst/>
            <a:rect l="l" t="t" r="r" b="b"/>
            <a:pathLst>
              <a:path w="5486263" h="2262584">
                <a:moveTo>
                  <a:pt x="9525" y="0"/>
                </a:moveTo>
                <a:lnTo>
                  <a:pt x="5486263" y="0"/>
                </a:lnTo>
                <a:lnTo>
                  <a:pt x="5486263" y="2262584"/>
                </a:lnTo>
                <a:lnTo>
                  <a:pt x="9525" y="2262584"/>
                </a:lnTo>
                <a:arcTo hR="9525" wR="9525" stAng="5400000" swAng="5400000"/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solidFill>
            <a:srgbClr val="F2EDE1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400227"/>
            <a:ext cx="525766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LEARNING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179" y="3675162"/>
            <a:ext cx="5029074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800" spc="-96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80%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38179" y="4537670"/>
            <a:ext cx="525766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Training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179" y="4991001"/>
            <a:ext cx="525766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Used to learn the relationship between inputs and sales.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5848" y="3171627"/>
            <a:ext cx="5486263" cy="2262584"/>
          </a:xfrm>
          <a:custGeom>
            <a:avLst/>
            <a:gdLst/>
            <a:ahLst/>
            <a:cxnLst/>
            <a:rect l="l" t="t" r="r" b="b"/>
            <a:pathLst>
              <a:path w="5486263" h="2262584">
                <a:moveTo>
                  <a:pt x="0" y="0"/>
                </a:moveTo>
                <a:lnTo>
                  <a:pt x="5476738" y="0"/>
                </a:lnTo>
                <a:arcTo hR="9525" wR="9525" stAng="16200000" swAng="5400000"/>
                <a:lnTo>
                  <a:pt x="5486263" y="2253059"/>
                </a:lnTo>
                <a:arcTo hR="9525" wR="9525" stAng="0" swAng="5400000"/>
                <a:lnTo>
                  <a:pt x="0" y="2262584"/>
                </a:lnTo>
                <a:lnTo>
                  <a:pt x="0" y="0"/>
                </a:lnTo>
                <a:close/>
              </a:path>
            </a:pathLst>
          </a:custGeom>
          <a:solidFill>
            <a:srgbClr val="FBEAB2"/>
          </a:solidFill>
          <a:ln/>
        </p:spPr>
      </p:sp>
      <p:sp>
        <p:nvSpPr>
          <p:cNvPr id="11" name="Text 9"/>
          <p:cNvSpPr/>
          <p:nvPr/>
        </p:nvSpPr>
        <p:spPr>
          <a:xfrm>
            <a:off x="6324442" y="3400227"/>
            <a:ext cx="525766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UNSEEN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24442" y="3675162"/>
            <a:ext cx="5029074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800" spc="-96" kern="0" dirty="0">
                <a:solidFill>
                  <a:srgbClr val="000000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20%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324442" y="4537670"/>
            <a:ext cx="525766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Testing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24442" y="4991001"/>
            <a:ext cx="525766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Held back to assess performance on new cases.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585" y="5612011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5E647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Random state: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647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2 · Reserve the notebook’s actual analysis graph here when supplied.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9498" y="3171627"/>
            <a:ext cx="12700" cy="2262584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131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XGBRegressor learns the relationship between outlet context and sales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429768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It predicts numerical sales by learning relationships between product and outlet features.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5353" y="2876748"/>
            <a:ext cx="5520889" cy="31114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64736" y="3147274"/>
            <a:ext cx="1022152" cy="15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Product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464736" y="3364948"/>
            <a:ext cx="1022152" cy="136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Item features input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10228" y="3147274"/>
            <a:ext cx="1016632" cy="15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Outlet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10228" y="3364948"/>
            <a:ext cx="1016632" cy="136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Store/location features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503382" y="5295607"/>
            <a:ext cx="983506" cy="15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Training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503382" y="5513282"/>
            <a:ext cx="983506" cy="136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Cleaned historical data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677104" y="5295607"/>
            <a:ext cx="1049756" cy="15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77104" y="5513282"/>
            <a:ext cx="1049756" cy="136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Sales (numeric)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09585" y="6080224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647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Evaluation metric: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5E647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R² score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647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31501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6705432" cy="1974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Training fit is strong, while test performance is more modest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088084"/>
            <a:ext cx="670543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i="1" dirty="0">
                <a:solidFill>
                  <a:srgbClr val="16233F"/>
                </a:solidFill>
                <a:latin typeface="Ancizar Serif" pitchFamily="34" charset="0"/>
                <a:ea typeface="Ancizar Serif" pitchFamily="34" charset="-122"/>
                <a:cs typeface="Ancizar Serif" pitchFamily="34" charset="-120"/>
              </a:rPr>
              <a:t>The gap between training and testing performance matters: unseen-data performance is the more cautious read.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961209"/>
            <a:ext cx="6705432" cy="19757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6029027"/>
            <a:ext cx="731501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647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Model evaluation · R² score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187" y="609600"/>
            <a:ext cx="3047924" cy="51175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34187" y="5819180"/>
            <a:ext cx="3047924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647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Training fit and unseen-data performance do not tell the same story.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RESULTS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131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Predictions are compared with actual test-set sales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429768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trained model generates sales predictions for the test data. The next comparison should place predicted values beside actual sales values.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3276104"/>
            <a:ext cx="4571886" cy="2176760"/>
          </a:xfrm>
          <a:custGeom>
            <a:avLst/>
            <a:gdLst/>
            <a:ahLst/>
            <a:cxnLst/>
            <a:rect l="l" t="t" r="r" b="b"/>
            <a:pathLst>
              <a:path w="4571886" h="2176760">
                <a:moveTo>
                  <a:pt x="9525" y="0"/>
                </a:moveTo>
                <a:lnTo>
                  <a:pt x="4571886" y="0"/>
                </a:lnTo>
                <a:lnTo>
                  <a:pt x="4571886" y="2176760"/>
                </a:lnTo>
                <a:lnTo>
                  <a:pt x="9525" y="2176760"/>
                </a:lnTo>
                <a:arcTo hR="9525" wR="9525" stAng="5400000" swAng="5400000"/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solidFill>
            <a:srgbClr val="F2EDE1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504704"/>
            <a:ext cx="434329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MODEL OUTPUT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179" y="3779639"/>
            <a:ext cx="4114697" cy="576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spc="-50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Predicted values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38179" y="4584303"/>
            <a:ext cx="411469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Use the notebook’s prediction graph or results view.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81470" y="3276104"/>
            <a:ext cx="4571886" cy="2176760"/>
          </a:xfrm>
          <a:prstGeom prst="rect">
            <a:avLst/>
          </a:prstGeom>
          <a:solidFill>
            <a:srgbClr val="F2EDE1"/>
          </a:solidFill>
          <a:ln/>
        </p:spPr>
      </p:sp>
      <p:sp>
        <p:nvSpPr>
          <p:cNvPr id="10" name="Text 8"/>
          <p:cNvSpPr/>
          <p:nvPr/>
        </p:nvSpPr>
        <p:spPr>
          <a:xfrm>
            <a:off x="5410065" y="3504704"/>
            <a:ext cx="434329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10065" y="3779639"/>
            <a:ext cx="4114697" cy="576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spc="-50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Actual sales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410065" y="4584303"/>
            <a:ext cx="411469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Compare against the corresponding test-set sales values.</a:t>
            </a:r>
            <a:endParaRPr lang="en-US" sz="1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1950" y="4078684"/>
            <a:ext cx="571486" cy="5715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09585" y="5659239"/>
            <a:ext cx="10972526" cy="1211461"/>
          </a:xfrm>
          <a:prstGeom prst="roundRect">
            <a:avLst>
              <a:gd name="adj" fmla="val 943"/>
            </a:avLst>
          </a:prstGeom>
          <a:solidFill>
            <a:srgbClr val="D9E1F2"/>
          </a:solidFill>
          <a:ln/>
        </p:spPr>
      </p:sp>
      <p:sp>
        <p:nvSpPr>
          <p:cNvPr id="15" name="Text 12"/>
          <p:cNvSpPr/>
          <p:nvPr/>
        </p:nvSpPr>
        <p:spPr>
          <a:xfrm>
            <a:off x="838179" y="5944989"/>
            <a:ext cx="105153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NOTEBOOK GRAPH SLOT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— Replace this guidance with the appropriate prediction or results graph from the notebook. Do not show a specific sales prediction unless it appears in the notebook.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175121" y="3276104"/>
            <a:ext cx="12700" cy="217676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747006" y="3276104"/>
            <a:ext cx="12700" cy="217676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70543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CLOSING READ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6095848" cy="2633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The project demonstrates a complete sales-prediction workflow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746401"/>
            <a:ext cx="609584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i="1" dirty="0">
                <a:solidFill>
                  <a:srgbClr val="16233F"/>
                </a:solidFill>
                <a:latin typeface="Ancizar Serif" pitchFamily="34" charset="0"/>
                <a:ea typeface="Ancizar Serif" pitchFamily="34" charset="-122"/>
                <a:cs typeface="Ancizar Serif" pitchFamily="34" charset="-120"/>
              </a:rPr>
              <a:t>From raw records to evaluated predictions, each stage prepares the next.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9585" y="5454055"/>
            <a:ext cx="6705432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Testing R² score: 0.5156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9585" y="6033790"/>
            <a:ext cx="670543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6472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Educational project; results depend on the dataset and preprocessing used.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24602" y="609600"/>
            <a:ext cx="400040" cy="400050"/>
          </a:xfrm>
          <a:prstGeom prst="ellipse">
            <a:avLst/>
          </a:prstGeom>
          <a:noFill/>
          <a:ln w="25399">
            <a:solidFill>
              <a:srgbClr val="D5CF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29771" y="695325"/>
            <a:ext cx="7991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77038" y="625475"/>
            <a:ext cx="310507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Processed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the dataset successfully.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924602" y="2355850"/>
            <a:ext cx="400040" cy="400050"/>
          </a:xfrm>
          <a:prstGeom prst="ellipse">
            <a:avLst/>
          </a:prstGeom>
          <a:noFill/>
          <a:ln w="25399">
            <a:solidFill>
              <a:srgbClr val="D5CF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9771" y="2441575"/>
            <a:ext cx="7991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77038" y="2371725"/>
            <a:ext cx="310507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Handled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missing and categorical data.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24602" y="4102100"/>
            <a:ext cx="400040" cy="400050"/>
          </a:xfrm>
          <a:prstGeom prst="ellipse">
            <a:avLst/>
          </a:prstGeom>
          <a:noFill/>
          <a:ln w="25399">
            <a:solidFill>
              <a:srgbClr val="D5CF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9771" y="4187825"/>
            <a:ext cx="7991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77038" y="4117975"/>
            <a:ext cx="310507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Implemented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XGBoost regression.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924602" y="5848350"/>
            <a:ext cx="400040" cy="400050"/>
          </a:xfrm>
          <a:prstGeom prst="ellipse">
            <a:avLst/>
          </a:prstGeom>
          <a:noFill/>
          <a:ln w="25399">
            <a:solidFill>
              <a:srgbClr val="D5CF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9771" y="5934075"/>
            <a:ext cx="7991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77038" y="5864225"/>
            <a:ext cx="371465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Measured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performance with R².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017" y="1739900"/>
            <a:ext cx="4876678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15017" y="3486150"/>
            <a:ext cx="4876678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15017" y="5232400"/>
            <a:ext cx="4876678" cy="1270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2026-09-30T18:08:57Z</dcterms:created>
  <dcterms:modified xsi:type="dcterms:W3CDTF">2026-09-30T18:08:57Z</dcterms:modified>
</cp:coreProperties>
</file>